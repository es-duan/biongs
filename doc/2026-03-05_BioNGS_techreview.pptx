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7ea690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7ea690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Mirina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c1f28cf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cc1f28cf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Elizabeth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cc1f28cf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cc1f28cf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Leo: step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Mirina: step 3-5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cc1f28cf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cc1f28cf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Elizabeth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b7ea690f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b7ea690f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cc1f28cf5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cc1f28cf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b7ea690f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b7ea690f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Elizabeth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Main processing: biopython, tried R in the past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Alignment: bowtie &amp; SAMtools, tried breseq and geneious in the past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Quality check: fastQC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BioNGS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Elizabeth, Mirina, Leo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Background, software goals &amp; use case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 </a:t>
            </a:r>
            <a:r>
              <a:rPr lang="en"/>
              <a:t>Develop a NGS (next-generation-sequencing) analysis pipeline which </a:t>
            </a:r>
            <a:r>
              <a:rPr b="1" lang="en"/>
              <a:t>s</a:t>
            </a:r>
            <a:r>
              <a:rPr b="1" lang="en"/>
              <a:t>ort</a:t>
            </a:r>
            <a:r>
              <a:rPr b="1" lang="en"/>
              <a:t>s</a:t>
            </a:r>
            <a:r>
              <a:rPr lang="en"/>
              <a:t> </a:t>
            </a:r>
            <a:r>
              <a:rPr b="1" lang="en"/>
              <a:t>reads</a:t>
            </a:r>
            <a:r>
              <a:rPr lang="en"/>
              <a:t> by DNA barcodes and </a:t>
            </a:r>
            <a:r>
              <a:rPr b="1" lang="en"/>
              <a:t>aligns reads</a:t>
            </a:r>
            <a:r>
              <a:rPr lang="en"/>
              <a:t> to a wild-type gene sequence to d</a:t>
            </a:r>
            <a:r>
              <a:rPr b="1" lang="en"/>
              <a:t>etect variants.</a:t>
            </a:r>
            <a:r>
              <a:rPr lang="en"/>
              <a:t> The </a:t>
            </a:r>
            <a:r>
              <a:rPr lang="en"/>
              <a:t>presence/absence of mutations is used to </a:t>
            </a:r>
            <a:r>
              <a:rPr b="1" lang="en"/>
              <a:t>calculate base-level mutation rate</a:t>
            </a:r>
            <a:r>
              <a:rPr lang="en"/>
              <a:t>. The code should be </a:t>
            </a:r>
            <a:r>
              <a:rPr b="1" lang="en"/>
              <a:t>command-line accessible.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Use cases: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lphaLcParenR"/>
            </a:pPr>
            <a:r>
              <a:rPr lang="en"/>
              <a:t>Calculate mutation rate for a given gene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"/>
              <a:t>Check the quality genetic processing done to prepare sample for sequencing (different analysis steps give information on different processing steps)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45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considered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03400" y="762000"/>
            <a:ext cx="8737200" cy="42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 files: </a:t>
            </a:r>
            <a:r>
              <a:rPr lang="en" u="sng"/>
              <a:t>fastq files</a:t>
            </a:r>
            <a:r>
              <a:rPr lang="en"/>
              <a:t> with sequenced reads, csvs with sequences of DNA barcodes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Report input data quality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FastQC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Python (biopython)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Sort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 (bioconductor)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Python (biopython)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Align sequences + call variants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breseq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Geneious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bowtie2 &amp; SAMtools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Parse variant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Python (biopython, cyvcf2)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 (tidyverse)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Calculate mutation 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Python (pandas)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 (tidyverse)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203400" y="762000"/>
            <a:ext cx="8737200" cy="42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 files: </a:t>
            </a:r>
            <a:r>
              <a:rPr lang="en" u="sng"/>
              <a:t>fastq files</a:t>
            </a:r>
            <a:r>
              <a:rPr lang="en"/>
              <a:t> with sequenced reads, csvs with sequences of DNA barcodes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Report input data quality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highlight>
                  <a:schemeClr val="accent6"/>
                </a:highlight>
              </a:rPr>
              <a:t>FastQC</a:t>
            </a:r>
            <a:endParaRPr>
              <a:highlight>
                <a:schemeClr val="accent6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Python (biopython)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Sort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 (bioconductor)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highlight>
                  <a:schemeClr val="accent6"/>
                </a:highlight>
              </a:rPr>
              <a:t>Python (biopython)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Align sequences + call variants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breseq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Geneious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highlight>
                  <a:schemeClr val="accent6"/>
                </a:highlight>
              </a:rPr>
              <a:t>bowtie2 &amp; SAMtools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Parse variant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highlight>
                  <a:srgbClr val="FBFFD0"/>
                </a:highlight>
              </a:rPr>
              <a:t>Python (biopython, cyvcf2)</a:t>
            </a:r>
            <a:endParaRPr>
              <a:highlight>
                <a:srgbClr val="FBFFD0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 (tidyverse)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Calculate mutation 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Python (pandas)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highlight>
                  <a:srgbClr val="FBFFD0"/>
                </a:highlight>
              </a:rPr>
              <a:t>R (tidyverse)</a:t>
            </a:r>
            <a:endParaRPr>
              <a:highlight>
                <a:srgbClr val="FBFFD0"/>
              </a:highlight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6217225" y="1298891"/>
            <a:ext cx="1913700" cy="640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FastQC: automated report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6217225" y="2045299"/>
            <a:ext cx="1913700" cy="640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Biopython is much faster</a:t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6217225" y="2791708"/>
            <a:ext cx="1913700" cy="640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bowtie2: CLI, less variant calling restrictions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6217225" y="4161591"/>
            <a:ext cx="1913700" cy="640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Compatible with analysis/plotting moving forward?</a:t>
            </a:r>
            <a:endParaRPr/>
          </a:p>
        </p:txBody>
      </p:sp>
      <p:cxnSp>
        <p:nvCxnSpPr>
          <p:cNvPr id="77" name="Google Shape;77;p16"/>
          <p:cNvCxnSpPr/>
          <p:nvPr/>
        </p:nvCxnSpPr>
        <p:spPr>
          <a:xfrm>
            <a:off x="4424800" y="1619291"/>
            <a:ext cx="1723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6"/>
          <p:cNvCxnSpPr/>
          <p:nvPr/>
        </p:nvCxnSpPr>
        <p:spPr>
          <a:xfrm>
            <a:off x="4424800" y="2365700"/>
            <a:ext cx="1723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6"/>
          <p:cNvCxnSpPr/>
          <p:nvPr/>
        </p:nvCxnSpPr>
        <p:spPr>
          <a:xfrm>
            <a:off x="4424800" y="3112100"/>
            <a:ext cx="1723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6"/>
          <p:cNvCxnSpPr/>
          <p:nvPr/>
        </p:nvCxnSpPr>
        <p:spPr>
          <a:xfrm>
            <a:off x="4424800" y="4481991"/>
            <a:ext cx="1723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245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chosen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217225" y="3476641"/>
            <a:ext cx="1913700" cy="640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Likely faster, more already-built tools available</a:t>
            </a:r>
            <a:endParaRPr/>
          </a:p>
        </p:txBody>
      </p:sp>
      <p:cxnSp>
        <p:nvCxnSpPr>
          <p:cNvPr id="83" name="Google Shape;83;p16"/>
          <p:cNvCxnSpPr/>
          <p:nvPr/>
        </p:nvCxnSpPr>
        <p:spPr>
          <a:xfrm>
            <a:off x="4424800" y="3797050"/>
            <a:ext cx="1723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Workflow/appeal of choice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676363" y="1486601"/>
            <a:ext cx="1161000" cy="984000"/>
          </a:xfrm>
          <a:prstGeom prst="rect">
            <a:avLst/>
          </a:prstGeom>
          <a:solidFill>
            <a:srgbClr val="99DBF8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850" lIns="82850" spcFirstLastPara="1" rIns="82850" wrap="square" tIns="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0">
                <a:solidFill>
                  <a:schemeClr val="dk2"/>
                </a:solidFill>
              </a:rPr>
              <a:t>fastq with 100k-500k reads</a:t>
            </a:r>
            <a:endParaRPr sz="1268"/>
          </a:p>
        </p:txBody>
      </p:sp>
      <p:grpSp>
        <p:nvGrpSpPr>
          <p:cNvPr id="90" name="Google Shape;90;p17"/>
          <p:cNvGrpSpPr/>
          <p:nvPr/>
        </p:nvGrpSpPr>
        <p:grpSpPr>
          <a:xfrm>
            <a:off x="2102124" y="1144901"/>
            <a:ext cx="1314240" cy="1667400"/>
            <a:chOff x="2346440" y="2831650"/>
            <a:chExt cx="1314240" cy="1667400"/>
          </a:xfrm>
        </p:grpSpPr>
        <p:sp>
          <p:nvSpPr>
            <p:cNvPr id="91" name="Google Shape;91;p17"/>
            <p:cNvSpPr/>
            <p:nvPr/>
          </p:nvSpPr>
          <p:spPr>
            <a:xfrm>
              <a:off x="2830580" y="2831658"/>
              <a:ext cx="830100" cy="219000"/>
            </a:xfrm>
            <a:prstGeom prst="rect">
              <a:avLst/>
            </a:prstGeom>
            <a:solidFill>
              <a:schemeClr val="accent5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Index 1</a:t>
              </a:r>
              <a:endParaRPr sz="1268">
                <a:solidFill>
                  <a:schemeClr val="lt1"/>
                </a:solidFill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2830580" y="3135663"/>
              <a:ext cx="830100" cy="219000"/>
            </a:xfrm>
            <a:prstGeom prst="rect">
              <a:avLst/>
            </a:prstGeom>
            <a:solidFill>
              <a:schemeClr val="accent5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Index 2</a:t>
              </a:r>
              <a:endParaRPr sz="1268">
                <a:solidFill>
                  <a:schemeClr val="lt1"/>
                </a:solidFill>
              </a:endParaRPr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2830580" y="4272321"/>
              <a:ext cx="830100" cy="219000"/>
            </a:xfrm>
            <a:prstGeom prst="rect">
              <a:avLst/>
            </a:prstGeom>
            <a:solidFill>
              <a:schemeClr val="accent5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Index 50</a:t>
              </a:r>
              <a:endParaRPr sz="1268">
                <a:solidFill>
                  <a:schemeClr val="lt1"/>
                </a:solidFill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 rot="10800000">
              <a:off x="2346440" y="2831650"/>
              <a:ext cx="354300" cy="1667400"/>
            </a:xfrm>
            <a:prstGeom prst="rightBrace">
              <a:avLst>
                <a:gd fmla="val 95784" name="adj1"/>
                <a:gd fmla="val 51427" name="adj2"/>
              </a:avLst>
            </a:prstGeom>
            <a:noFill/>
            <a:ln cap="flat" cmpd="sng" w="172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1400" lIns="82850" spcFirstLastPara="1" rIns="82850" wrap="square" tIns="4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" name="Google Shape;95;p17"/>
            <p:cNvCxnSpPr/>
            <p:nvPr/>
          </p:nvCxnSpPr>
          <p:spPr>
            <a:xfrm>
              <a:off x="3215572" y="3476855"/>
              <a:ext cx="0" cy="690300"/>
            </a:xfrm>
            <a:prstGeom prst="straightConnector1">
              <a:avLst/>
            </a:prstGeom>
            <a:noFill/>
            <a:ln cap="flat" cmpd="sng" w="2587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96" name="Google Shape;96;p17"/>
          <p:cNvSpPr txBox="1"/>
          <p:nvPr/>
        </p:nvSpPr>
        <p:spPr>
          <a:xfrm>
            <a:off x="2360601" y="2792101"/>
            <a:ext cx="23628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0">
                <a:solidFill>
                  <a:schemeClr val="dk2"/>
                </a:solidFill>
              </a:rPr>
              <a:t>Split by index, then UMI</a:t>
            </a:r>
            <a:endParaRPr sz="1630">
              <a:solidFill>
                <a:schemeClr val="dk2"/>
              </a:solidFill>
            </a:endParaRPr>
          </a:p>
        </p:txBody>
      </p:sp>
      <p:grpSp>
        <p:nvGrpSpPr>
          <p:cNvPr id="97" name="Google Shape;97;p17"/>
          <p:cNvGrpSpPr/>
          <p:nvPr/>
        </p:nvGrpSpPr>
        <p:grpSpPr>
          <a:xfrm>
            <a:off x="3681112" y="1144901"/>
            <a:ext cx="1580228" cy="1667400"/>
            <a:chOff x="3925428" y="2831650"/>
            <a:chExt cx="1580228" cy="1667400"/>
          </a:xfrm>
        </p:grpSpPr>
        <p:sp>
          <p:nvSpPr>
            <p:cNvPr id="98" name="Google Shape;98;p17"/>
            <p:cNvSpPr/>
            <p:nvPr/>
          </p:nvSpPr>
          <p:spPr>
            <a:xfrm rot="10800000">
              <a:off x="3925428" y="2831650"/>
              <a:ext cx="354300" cy="1667400"/>
            </a:xfrm>
            <a:prstGeom prst="rightBrace">
              <a:avLst>
                <a:gd fmla="val 95784" name="adj1"/>
                <a:gd fmla="val 92358" name="adj2"/>
              </a:avLst>
            </a:prstGeom>
            <a:noFill/>
            <a:ln cap="flat" cmpd="sng" w="172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1400" lIns="82850" spcFirstLastPara="1" rIns="82850" wrap="square" tIns="4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4352155" y="2831658"/>
              <a:ext cx="1153500" cy="219000"/>
            </a:xfrm>
            <a:prstGeom prst="rect">
              <a:avLst/>
            </a:prstGeom>
            <a:solidFill>
              <a:srgbClr val="DD7E6B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UMI 1.1</a:t>
              </a:r>
              <a:endParaRPr sz="1268">
                <a:solidFill>
                  <a:schemeClr val="lt1"/>
                </a:solidFill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4352155" y="3108485"/>
              <a:ext cx="1153500" cy="219000"/>
            </a:xfrm>
            <a:prstGeom prst="rect">
              <a:avLst/>
            </a:prstGeom>
            <a:solidFill>
              <a:srgbClr val="DD7E6B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UMI 1.2</a:t>
              </a:r>
              <a:endParaRPr sz="1268">
                <a:solidFill>
                  <a:schemeClr val="lt1"/>
                </a:solidFill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4352155" y="4272321"/>
              <a:ext cx="1153500" cy="219000"/>
            </a:xfrm>
            <a:prstGeom prst="rect">
              <a:avLst/>
            </a:prstGeom>
            <a:solidFill>
              <a:srgbClr val="DD7E6B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UMI 1.1000?</a:t>
              </a:r>
              <a:endParaRPr sz="1268">
                <a:solidFill>
                  <a:schemeClr val="lt1"/>
                </a:solidFill>
              </a:endParaRPr>
            </a:p>
          </p:txBody>
        </p:sp>
        <p:cxnSp>
          <p:nvCxnSpPr>
            <p:cNvPr id="102" name="Google Shape;102;p17"/>
            <p:cNvCxnSpPr/>
            <p:nvPr/>
          </p:nvCxnSpPr>
          <p:spPr>
            <a:xfrm>
              <a:off x="4896894" y="3454748"/>
              <a:ext cx="0" cy="690300"/>
            </a:xfrm>
            <a:prstGeom prst="straightConnector1">
              <a:avLst/>
            </a:prstGeom>
            <a:noFill/>
            <a:ln cap="flat" cmpd="sng" w="2587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" name="Google Shape;103;p17"/>
          <p:cNvGrpSpPr/>
          <p:nvPr/>
        </p:nvGrpSpPr>
        <p:grpSpPr>
          <a:xfrm>
            <a:off x="5352083" y="1144764"/>
            <a:ext cx="1932973" cy="2041537"/>
            <a:chOff x="5755149" y="2831513"/>
            <a:chExt cx="1932973" cy="2041537"/>
          </a:xfrm>
        </p:grpSpPr>
        <p:sp>
          <p:nvSpPr>
            <p:cNvPr id="104" name="Google Shape;104;p17"/>
            <p:cNvSpPr txBox="1"/>
            <p:nvPr/>
          </p:nvSpPr>
          <p:spPr>
            <a:xfrm>
              <a:off x="5987423" y="4478850"/>
              <a:ext cx="17007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30">
                  <a:solidFill>
                    <a:schemeClr val="dk2"/>
                  </a:solidFill>
                </a:rPr>
                <a:t>Align to wt gene</a:t>
              </a:r>
              <a:endParaRPr sz="1630">
                <a:solidFill>
                  <a:schemeClr val="dk2"/>
                </a:solidFill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6226845" y="2863456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6226845" y="3147947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6226845" y="3432438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6226845" y="4001419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6226845" y="3716928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6226845" y="4285910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111" name="Google Shape;111;p17"/>
            <p:cNvSpPr/>
            <p:nvPr/>
          </p:nvSpPr>
          <p:spPr>
            <a:xfrm rot="10800000">
              <a:off x="5755149" y="2831513"/>
              <a:ext cx="354300" cy="1387200"/>
            </a:xfrm>
            <a:prstGeom prst="rightBrace">
              <a:avLst>
                <a:gd fmla="val 95784" name="adj1"/>
                <a:gd fmla="val 92058" name="adj2"/>
              </a:avLst>
            </a:prstGeom>
            <a:noFill/>
            <a:ln cap="flat" cmpd="sng" w="172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1400" lIns="82850" spcFirstLastPara="1" rIns="82850" wrap="square" tIns="4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6663009" y="2864000"/>
              <a:ext cx="23400" cy="191700"/>
            </a:xfrm>
            <a:prstGeom prst="rect">
              <a:avLst/>
            </a:prstGeom>
            <a:solidFill>
              <a:srgbClr val="FF00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6663009" y="3148221"/>
              <a:ext cx="23400" cy="191700"/>
            </a:xfrm>
            <a:prstGeom prst="rect">
              <a:avLst/>
            </a:prstGeom>
            <a:solidFill>
              <a:srgbClr val="FF00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6663009" y="3432567"/>
              <a:ext cx="23400" cy="191700"/>
            </a:xfrm>
            <a:prstGeom prst="rect">
              <a:avLst/>
            </a:prstGeom>
            <a:solidFill>
              <a:srgbClr val="FF00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6663009" y="3716992"/>
              <a:ext cx="23400" cy="191700"/>
            </a:xfrm>
            <a:prstGeom prst="rect">
              <a:avLst/>
            </a:prstGeom>
            <a:solidFill>
              <a:srgbClr val="FF00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6663009" y="4001451"/>
              <a:ext cx="23400" cy="191700"/>
            </a:xfrm>
            <a:prstGeom prst="rect">
              <a:avLst/>
            </a:prstGeom>
            <a:solidFill>
              <a:srgbClr val="FF00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7016044" y="3432419"/>
              <a:ext cx="23400" cy="191700"/>
            </a:xfrm>
            <a:prstGeom prst="rect">
              <a:avLst/>
            </a:prstGeom>
            <a:solidFill>
              <a:srgbClr val="00FF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</p:grpSp>
      <p:sp>
        <p:nvSpPr>
          <p:cNvPr id="118" name="Google Shape;118;p17"/>
          <p:cNvSpPr/>
          <p:nvPr/>
        </p:nvSpPr>
        <p:spPr>
          <a:xfrm>
            <a:off x="6128947" y="1017718"/>
            <a:ext cx="291300" cy="1667400"/>
          </a:xfrm>
          <a:prstGeom prst="rect">
            <a:avLst/>
          </a:prstGeom>
          <a:noFill/>
          <a:ln cap="flat" cmpd="sng" w="2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850" lIns="82850" spcFirstLastPara="1" rIns="82850" wrap="square" tIns="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/>
          </a:p>
        </p:txBody>
      </p:sp>
      <p:sp>
        <p:nvSpPr>
          <p:cNvPr id="119" name="Google Shape;119;p17"/>
          <p:cNvSpPr txBox="1"/>
          <p:nvPr/>
        </p:nvSpPr>
        <p:spPr>
          <a:xfrm>
            <a:off x="7519490" y="1258175"/>
            <a:ext cx="1274700" cy="1440900"/>
          </a:xfrm>
          <a:prstGeom prst="rect">
            <a:avLst/>
          </a:prstGeom>
          <a:noFill/>
          <a:ln cap="flat" cmpd="sng" w="299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5600" lIns="95600" spcFirstLastPara="1" rIns="95600" wrap="square" tIns="95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1">
                <a:solidFill>
                  <a:schemeClr val="dk2"/>
                </a:solidFill>
              </a:rPr>
              <a:t>Calculate mutation rates using info from all 50 samples</a:t>
            </a:r>
            <a:endParaRPr sz="1621">
              <a:solidFill>
                <a:schemeClr val="dk2"/>
              </a:solidFill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676363" y="2470626"/>
            <a:ext cx="1161000" cy="1508100"/>
            <a:chOff x="676363" y="2470626"/>
            <a:chExt cx="1161000" cy="1508100"/>
          </a:xfrm>
        </p:grpSpPr>
        <p:sp>
          <p:nvSpPr>
            <p:cNvPr id="121" name="Google Shape;121;p17"/>
            <p:cNvSpPr/>
            <p:nvPr/>
          </p:nvSpPr>
          <p:spPr>
            <a:xfrm>
              <a:off x="676363" y="2994726"/>
              <a:ext cx="1161000" cy="984000"/>
            </a:xfrm>
            <a:prstGeom prst="rect">
              <a:avLst/>
            </a:prstGeom>
            <a:solidFill>
              <a:schemeClr val="accent6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30">
                  <a:solidFill>
                    <a:schemeClr val="dk2"/>
                  </a:solidFill>
                </a:rPr>
                <a:t>Sequence quality check</a:t>
              </a:r>
              <a:endParaRPr sz="1268"/>
            </a:p>
          </p:txBody>
        </p:sp>
        <p:cxnSp>
          <p:nvCxnSpPr>
            <p:cNvPr id="122" name="Google Shape;122;p17"/>
            <p:cNvCxnSpPr>
              <a:endCxn id="121" idx="0"/>
            </p:cNvCxnSpPr>
            <p:nvPr/>
          </p:nvCxnSpPr>
          <p:spPr>
            <a:xfrm>
              <a:off x="1256863" y="2470626"/>
              <a:ext cx="0" cy="52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23" name="Google Shape;123;p17"/>
          <p:cNvGrpSpPr/>
          <p:nvPr/>
        </p:nvGrpSpPr>
        <p:grpSpPr>
          <a:xfrm>
            <a:off x="349813" y="3990159"/>
            <a:ext cx="1814788" cy="974641"/>
            <a:chOff x="349813" y="3990159"/>
            <a:chExt cx="1814788" cy="974641"/>
          </a:xfrm>
        </p:grpSpPr>
        <p:sp>
          <p:nvSpPr>
            <p:cNvPr id="124" name="Google Shape;124;p17"/>
            <p:cNvSpPr/>
            <p:nvPr/>
          </p:nvSpPr>
          <p:spPr>
            <a:xfrm rot="-5400000">
              <a:off x="1137763" y="3202209"/>
              <a:ext cx="238200" cy="1814100"/>
            </a:xfrm>
            <a:prstGeom prst="leftBracket">
              <a:avLst>
                <a:gd fmla="val 8333" name="adj"/>
              </a:avLst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350500" y="4440700"/>
              <a:ext cx="1814100" cy="524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FF"/>
                  </a:solidFill>
                </a:rPr>
                <a:t>FastQC</a:t>
              </a:r>
              <a:endParaRPr b="1" sz="1800">
                <a:solidFill>
                  <a:srgbClr val="0000FF"/>
                </a:solidFill>
              </a:endParaRPr>
            </a:p>
          </p:txBody>
        </p:sp>
      </p:grpSp>
      <p:grpSp>
        <p:nvGrpSpPr>
          <p:cNvPr id="126" name="Google Shape;126;p17"/>
          <p:cNvGrpSpPr/>
          <p:nvPr/>
        </p:nvGrpSpPr>
        <p:grpSpPr>
          <a:xfrm>
            <a:off x="2210663" y="3990159"/>
            <a:ext cx="3300613" cy="974641"/>
            <a:chOff x="2210663" y="3990159"/>
            <a:chExt cx="3300613" cy="974641"/>
          </a:xfrm>
        </p:grpSpPr>
        <p:sp>
          <p:nvSpPr>
            <p:cNvPr id="127" name="Google Shape;127;p17"/>
            <p:cNvSpPr/>
            <p:nvPr/>
          </p:nvSpPr>
          <p:spPr>
            <a:xfrm rot="-5400000">
              <a:off x="3741863" y="2458959"/>
              <a:ext cx="238200" cy="3300600"/>
            </a:xfrm>
            <a:prstGeom prst="leftBracket">
              <a:avLst>
                <a:gd fmla="val 8333" name="adj"/>
              </a:avLst>
            </a:prstGeom>
            <a:noFill/>
            <a:ln cap="flat" cmpd="sng" w="381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210675" y="4440700"/>
              <a:ext cx="3300600" cy="524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9900FF"/>
                  </a:solidFill>
                </a:rPr>
                <a:t>Biopython</a:t>
              </a:r>
              <a:endParaRPr b="1" sz="1800">
                <a:solidFill>
                  <a:srgbClr val="9900FF"/>
                </a:solidFill>
              </a:endParaRPr>
            </a:p>
          </p:txBody>
        </p:sp>
      </p:grpSp>
      <p:grpSp>
        <p:nvGrpSpPr>
          <p:cNvPr id="129" name="Google Shape;129;p17"/>
          <p:cNvGrpSpPr/>
          <p:nvPr/>
        </p:nvGrpSpPr>
        <p:grpSpPr>
          <a:xfrm>
            <a:off x="5557350" y="3990159"/>
            <a:ext cx="1722963" cy="974641"/>
            <a:chOff x="5557350" y="3990159"/>
            <a:chExt cx="1722963" cy="974641"/>
          </a:xfrm>
        </p:grpSpPr>
        <p:sp>
          <p:nvSpPr>
            <p:cNvPr id="130" name="Google Shape;130;p17"/>
            <p:cNvSpPr/>
            <p:nvPr/>
          </p:nvSpPr>
          <p:spPr>
            <a:xfrm rot="-5400000">
              <a:off x="6300063" y="3248109"/>
              <a:ext cx="238200" cy="1722300"/>
            </a:xfrm>
            <a:prstGeom prst="leftBracket">
              <a:avLst>
                <a:gd fmla="val 8333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5557350" y="4440700"/>
              <a:ext cx="1722300" cy="524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</a:rPr>
                <a:t>bowtie2</a:t>
              </a:r>
              <a:endParaRPr b="1"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132" name="Google Shape;132;p17"/>
          <p:cNvGrpSpPr/>
          <p:nvPr/>
        </p:nvGrpSpPr>
        <p:grpSpPr>
          <a:xfrm>
            <a:off x="7325725" y="3990159"/>
            <a:ext cx="1722300" cy="974641"/>
            <a:chOff x="7325725" y="3990159"/>
            <a:chExt cx="1722300" cy="974641"/>
          </a:xfrm>
        </p:grpSpPr>
        <p:sp>
          <p:nvSpPr>
            <p:cNvPr id="133" name="Google Shape;133;p17"/>
            <p:cNvSpPr/>
            <p:nvPr/>
          </p:nvSpPr>
          <p:spPr>
            <a:xfrm rot="-5400000">
              <a:off x="8043625" y="3273609"/>
              <a:ext cx="238200" cy="1671300"/>
            </a:xfrm>
            <a:prstGeom prst="leftBracket">
              <a:avLst>
                <a:gd fmla="val 8333" name="adj"/>
              </a:avLst>
            </a:prstGeom>
            <a:noFill/>
            <a:ln cap="flat" cmpd="sng" w="381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7325725" y="4440700"/>
              <a:ext cx="1722300" cy="524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9900FF"/>
                  </a:solidFill>
                </a:rPr>
                <a:t>Biopython/R</a:t>
              </a:r>
              <a:endParaRPr b="1" sz="1800">
                <a:solidFill>
                  <a:srgbClr val="99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Drawbacks</a:t>
            </a:r>
            <a:endParaRPr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Pipeline combines technologies that use different languages (python, shell)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build in places for analysis to “stop”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Ex. if you are just seeking sequence quality (step 1), you would not want to run the rest of the pipeline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interactive workflow can block batch runs (largest drawback)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QC/fastq outputs may explode in size (especially many populations waiting for manual QC check)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thresholds depend on sequencing type and read length(depends on labs)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Reproducibility requires stronger input tracking(Json)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311700" y="125950"/>
            <a:ext cx="8520600" cy="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/>
              <a:t>Workflow: identify true antibiotic resistance mutations across multiple samples</a:t>
            </a:r>
            <a:endParaRPr sz="1820"/>
          </a:p>
        </p:txBody>
      </p:sp>
      <p:sp>
        <p:nvSpPr>
          <p:cNvPr id="152" name="Google Shape;152;p20"/>
          <p:cNvSpPr/>
          <p:nvPr/>
        </p:nvSpPr>
        <p:spPr>
          <a:xfrm rot="-5400000">
            <a:off x="-587825" y="1381584"/>
            <a:ext cx="1839000" cy="3114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850" lIns="82850" spcFirstLastPara="1" rIns="82850" wrap="square" tIns="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/>
              <a:t>Experiment</a:t>
            </a:r>
            <a:endParaRPr sz="1268"/>
          </a:p>
        </p:txBody>
      </p:sp>
      <p:sp>
        <p:nvSpPr>
          <p:cNvPr id="153" name="Google Shape;153;p20"/>
          <p:cNvSpPr txBox="1"/>
          <p:nvPr/>
        </p:nvSpPr>
        <p:spPr>
          <a:xfrm>
            <a:off x="5021066" y="1308417"/>
            <a:ext cx="557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0">
                <a:solidFill>
                  <a:schemeClr val="dk2"/>
                </a:solidFill>
              </a:rPr>
              <a:t>x50</a:t>
            </a:r>
            <a:endParaRPr sz="1630">
              <a:solidFill>
                <a:schemeClr val="dk2"/>
              </a:solidFill>
            </a:endParaRPr>
          </a:p>
        </p:txBody>
      </p:sp>
      <p:grpSp>
        <p:nvGrpSpPr>
          <p:cNvPr id="154" name="Google Shape;154;p20"/>
          <p:cNvGrpSpPr/>
          <p:nvPr/>
        </p:nvGrpSpPr>
        <p:grpSpPr>
          <a:xfrm>
            <a:off x="704097" y="1081423"/>
            <a:ext cx="1520324" cy="912252"/>
            <a:chOff x="704097" y="1081423"/>
            <a:chExt cx="1520324" cy="912252"/>
          </a:xfrm>
        </p:grpSpPr>
        <p:grpSp>
          <p:nvGrpSpPr>
            <p:cNvPr id="155" name="Google Shape;155;p20"/>
            <p:cNvGrpSpPr/>
            <p:nvPr/>
          </p:nvGrpSpPr>
          <p:grpSpPr>
            <a:xfrm>
              <a:off x="704097" y="1081423"/>
              <a:ext cx="291418" cy="912252"/>
              <a:chOff x="4900611" y="1042987"/>
              <a:chExt cx="485778" cy="1512605"/>
            </a:xfrm>
          </p:grpSpPr>
          <p:sp>
            <p:nvSpPr>
              <p:cNvPr id="156" name="Google Shape;156;p20"/>
              <p:cNvSpPr/>
              <p:nvPr/>
            </p:nvSpPr>
            <p:spPr>
              <a:xfrm>
                <a:off x="4900611" y="1262499"/>
                <a:ext cx="485777" cy="1293093"/>
              </a:xfrm>
              <a:custGeom>
                <a:rect b="b" l="l" r="r" t="t"/>
                <a:pathLst>
                  <a:path extrusionOk="0" h="1512390" w="485777">
                    <a:moveTo>
                      <a:pt x="242888" y="0"/>
                    </a:moveTo>
                    <a:lnTo>
                      <a:pt x="242889" y="0"/>
                    </a:lnTo>
                    <a:lnTo>
                      <a:pt x="242889" y="0"/>
                    </a:lnTo>
                    <a:cubicBezTo>
                      <a:pt x="377032" y="0"/>
                      <a:pt x="485777" y="27186"/>
                      <a:pt x="485777" y="60722"/>
                    </a:cubicBezTo>
                    <a:cubicBezTo>
                      <a:pt x="485777" y="458468"/>
                      <a:pt x="485776" y="856213"/>
                      <a:pt x="485776" y="1253959"/>
                    </a:cubicBezTo>
                    <a:lnTo>
                      <a:pt x="485668" y="1254227"/>
                    </a:lnTo>
                    <a:lnTo>
                      <a:pt x="485777" y="1255369"/>
                    </a:lnTo>
                    <a:cubicBezTo>
                      <a:pt x="485777" y="1397318"/>
                      <a:pt x="377032" y="1512390"/>
                      <a:pt x="242889" y="1512390"/>
                    </a:cubicBezTo>
                    <a:cubicBezTo>
                      <a:pt x="108746" y="1512390"/>
                      <a:pt x="1" y="1397318"/>
                      <a:pt x="1" y="1255369"/>
                    </a:cubicBezTo>
                    <a:lnTo>
                      <a:pt x="110" y="1254231"/>
                    </a:lnTo>
                    <a:lnTo>
                      <a:pt x="0" y="1253959"/>
                    </a:lnTo>
                    <a:lnTo>
                      <a:pt x="1" y="60725"/>
                    </a:lnTo>
                    <a:lnTo>
                      <a:pt x="0" y="60722"/>
                    </a:lnTo>
                    <a:cubicBezTo>
                      <a:pt x="0" y="27186"/>
                      <a:pt x="108745" y="0"/>
                      <a:pt x="242888" y="0"/>
                    </a:cubicBezTo>
                    <a:close/>
                  </a:path>
                </a:pathLst>
              </a:custGeom>
              <a:solidFill>
                <a:srgbClr val="FDEDC4"/>
              </a:solidFill>
              <a:ln>
                <a:noFill/>
              </a:ln>
            </p:spPr>
            <p:txBody>
              <a:bodyPr anchorCtr="0" anchor="ctr" bIns="41400" lIns="82850" spcFirstLastPara="1" rIns="82850" wrap="square" tIns="414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3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7" name="Google Shape;157;p20"/>
              <p:cNvGrpSpPr/>
              <p:nvPr/>
            </p:nvGrpSpPr>
            <p:grpSpPr>
              <a:xfrm>
                <a:off x="4900612" y="1042987"/>
                <a:ext cx="485777" cy="1512390"/>
                <a:chOff x="4900612" y="1042987"/>
                <a:chExt cx="485777" cy="1512390"/>
              </a:xfrm>
            </p:grpSpPr>
            <p:sp>
              <p:nvSpPr>
                <p:cNvPr id="158" name="Google Shape;158;p20"/>
                <p:cNvSpPr/>
                <p:nvPr/>
              </p:nvSpPr>
              <p:spPr>
                <a:xfrm>
                  <a:off x="4900612" y="1042987"/>
                  <a:ext cx="485777" cy="1512390"/>
                </a:xfrm>
                <a:custGeom>
                  <a:rect b="b" l="l" r="r" t="t"/>
                  <a:pathLst>
                    <a:path extrusionOk="0" h="1512390" w="485777">
                      <a:moveTo>
                        <a:pt x="242888" y="0"/>
                      </a:moveTo>
                      <a:lnTo>
                        <a:pt x="242889" y="0"/>
                      </a:lnTo>
                      <a:lnTo>
                        <a:pt x="242889" y="0"/>
                      </a:lnTo>
                      <a:cubicBezTo>
                        <a:pt x="377032" y="0"/>
                        <a:pt x="485777" y="27186"/>
                        <a:pt x="485777" y="60722"/>
                      </a:cubicBezTo>
                      <a:cubicBezTo>
                        <a:pt x="485777" y="458468"/>
                        <a:pt x="485776" y="856213"/>
                        <a:pt x="485776" y="1253959"/>
                      </a:cubicBezTo>
                      <a:lnTo>
                        <a:pt x="485668" y="1254227"/>
                      </a:lnTo>
                      <a:lnTo>
                        <a:pt x="485777" y="1255369"/>
                      </a:lnTo>
                      <a:cubicBezTo>
                        <a:pt x="485777" y="1397318"/>
                        <a:pt x="377032" y="1512390"/>
                        <a:pt x="242889" y="1512390"/>
                      </a:cubicBezTo>
                      <a:cubicBezTo>
                        <a:pt x="108746" y="1512390"/>
                        <a:pt x="1" y="1397318"/>
                        <a:pt x="1" y="1255369"/>
                      </a:cubicBezTo>
                      <a:lnTo>
                        <a:pt x="110" y="1254231"/>
                      </a:lnTo>
                      <a:lnTo>
                        <a:pt x="0" y="1253959"/>
                      </a:lnTo>
                      <a:lnTo>
                        <a:pt x="1" y="60725"/>
                      </a:lnTo>
                      <a:lnTo>
                        <a:pt x="0" y="60722"/>
                      </a:lnTo>
                      <a:cubicBezTo>
                        <a:pt x="0" y="27186"/>
                        <a:pt x="108745" y="0"/>
                        <a:pt x="242888" y="0"/>
                      </a:cubicBezTo>
                      <a:close/>
                    </a:path>
                  </a:pathLst>
                </a:custGeom>
                <a:noFill/>
                <a:ln cap="flat" cmpd="sng" w="17250">
                  <a:solidFill>
                    <a:srgbClr val="5959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1400" lIns="82850" spcFirstLastPara="1" rIns="82850" wrap="square" tIns="414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3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20"/>
                <p:cNvSpPr/>
                <p:nvPr/>
              </p:nvSpPr>
              <p:spPr>
                <a:xfrm>
                  <a:off x="4900612" y="1042987"/>
                  <a:ext cx="485700" cy="131400"/>
                </a:xfrm>
                <a:prstGeom prst="ellipse">
                  <a:avLst/>
                </a:prstGeom>
                <a:noFill/>
                <a:ln cap="flat" cmpd="sng" w="17250">
                  <a:solidFill>
                    <a:srgbClr val="5959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1400" lIns="82850" spcFirstLastPara="1" rIns="82850" wrap="square" tIns="414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30" u="none" cap="none" strike="noStrike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" name="Google Shape;160;p20"/>
                <p:cNvSpPr/>
                <p:nvPr/>
              </p:nvSpPr>
              <p:spPr>
                <a:xfrm>
                  <a:off x="4900612" y="1262499"/>
                  <a:ext cx="485700" cy="131400"/>
                </a:xfrm>
                <a:prstGeom prst="ellipse">
                  <a:avLst/>
                </a:prstGeom>
                <a:noFill/>
                <a:ln cap="flat" cmpd="sng" w="17250">
                  <a:solidFill>
                    <a:srgbClr val="5959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1400" lIns="82850" spcFirstLastPara="1" rIns="82850" wrap="square" tIns="414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3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61" name="Google Shape;161;p20"/>
            <p:cNvSpPr txBox="1"/>
            <p:nvPr/>
          </p:nvSpPr>
          <p:spPr>
            <a:xfrm>
              <a:off x="995021" y="1162722"/>
              <a:ext cx="1229400" cy="7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850" lIns="82850" spcFirstLastPara="1" rIns="82850" wrap="square" tIns="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dk2"/>
                  </a:solidFill>
                </a:rPr>
                <a:t>PCR amplify + add DNA barcodes</a:t>
              </a:r>
              <a:endParaRPr sz="1268">
                <a:solidFill>
                  <a:schemeClr val="dk2"/>
                </a:solidFill>
              </a:endParaRPr>
            </a:p>
          </p:txBody>
        </p:sp>
      </p:grpSp>
      <p:cxnSp>
        <p:nvCxnSpPr>
          <p:cNvPr id="162" name="Google Shape;162;p20"/>
          <p:cNvCxnSpPr/>
          <p:nvPr/>
        </p:nvCxnSpPr>
        <p:spPr>
          <a:xfrm>
            <a:off x="2062392" y="1517548"/>
            <a:ext cx="577500" cy="0"/>
          </a:xfrm>
          <a:prstGeom prst="straightConnector1">
            <a:avLst/>
          </a:prstGeom>
          <a:noFill/>
          <a:ln cap="flat" cmpd="sng" w="258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3" name="Google Shape;163;p20"/>
          <p:cNvGrpSpPr/>
          <p:nvPr/>
        </p:nvGrpSpPr>
        <p:grpSpPr>
          <a:xfrm>
            <a:off x="2906116" y="832061"/>
            <a:ext cx="1960713" cy="1371032"/>
            <a:chOff x="2906116" y="832061"/>
            <a:chExt cx="1960713" cy="1371032"/>
          </a:xfrm>
        </p:grpSpPr>
        <p:sp>
          <p:nvSpPr>
            <p:cNvPr id="164" name="Google Shape;164;p20"/>
            <p:cNvSpPr/>
            <p:nvPr/>
          </p:nvSpPr>
          <p:spPr>
            <a:xfrm>
              <a:off x="3214852" y="1421611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87"/>
                <a:t>gene</a:t>
              </a:r>
              <a:endParaRPr sz="1087"/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4557962" y="1421611"/>
              <a:ext cx="154500" cy="191700"/>
            </a:xfrm>
            <a:prstGeom prst="rect">
              <a:avLst/>
            </a:prstGeom>
            <a:solidFill>
              <a:srgbClr val="DD7E6B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3060484" y="1421611"/>
              <a:ext cx="154500" cy="191700"/>
            </a:xfrm>
            <a:prstGeom prst="rect">
              <a:avLst/>
            </a:prstGeom>
            <a:solidFill>
              <a:srgbClr val="DD7E6B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2906116" y="1421611"/>
              <a:ext cx="154500" cy="191700"/>
            </a:xfrm>
            <a:prstGeom prst="rect">
              <a:avLst/>
            </a:prstGeom>
            <a:solidFill>
              <a:schemeClr val="accent5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4712330" y="1421611"/>
              <a:ext cx="154500" cy="191700"/>
            </a:xfrm>
            <a:prstGeom prst="rect">
              <a:avLst/>
            </a:prstGeom>
            <a:solidFill>
              <a:schemeClr val="accent5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3460144" y="832061"/>
              <a:ext cx="783300" cy="390600"/>
            </a:xfrm>
            <a:prstGeom prst="rect">
              <a:avLst/>
            </a:prstGeom>
            <a:noFill/>
            <a:ln cap="flat" cmpd="sng" w="17250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2850" lIns="82850" spcFirstLastPara="1" rIns="82850" wrap="square" tIns="828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49">
                  <a:solidFill>
                    <a:schemeClr val="dk2"/>
                  </a:solidFill>
                </a:rPr>
                <a:t>f/r UMI</a:t>
              </a:r>
              <a:endParaRPr sz="1449">
                <a:solidFill>
                  <a:schemeClr val="dk2"/>
                </a:solidFill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3404430" y="1812493"/>
              <a:ext cx="894600" cy="390600"/>
            </a:xfrm>
            <a:prstGeom prst="rect">
              <a:avLst/>
            </a:prstGeom>
            <a:noFill/>
            <a:ln cap="flat" cmpd="sng" w="172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2850" lIns="82850" spcFirstLastPara="1" rIns="82850" wrap="square" tIns="828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49">
                  <a:solidFill>
                    <a:schemeClr val="dk2"/>
                  </a:solidFill>
                </a:rPr>
                <a:t>f/r index</a:t>
              </a:r>
              <a:endParaRPr sz="1449">
                <a:solidFill>
                  <a:schemeClr val="dk2"/>
                </a:solidFill>
              </a:endParaRPr>
            </a:p>
          </p:txBody>
        </p:sp>
        <p:cxnSp>
          <p:nvCxnSpPr>
            <p:cNvPr id="171" name="Google Shape;171;p20"/>
            <p:cNvCxnSpPr>
              <a:stCxn id="170" idx="1"/>
              <a:endCxn id="167" idx="2"/>
            </p:cNvCxnSpPr>
            <p:nvPr/>
          </p:nvCxnSpPr>
          <p:spPr>
            <a:xfrm rot="10800000">
              <a:off x="2983230" y="1613293"/>
              <a:ext cx="421200" cy="394500"/>
            </a:xfrm>
            <a:prstGeom prst="curvedConnector2">
              <a:avLst/>
            </a:prstGeom>
            <a:noFill/>
            <a:ln cap="flat" cmpd="sng" w="17250">
              <a:solidFill>
                <a:schemeClr val="accent5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2" name="Google Shape;172;p20"/>
            <p:cNvCxnSpPr>
              <a:stCxn id="170" idx="3"/>
              <a:endCxn id="168" idx="2"/>
            </p:cNvCxnSpPr>
            <p:nvPr/>
          </p:nvCxnSpPr>
          <p:spPr>
            <a:xfrm flipH="1" rot="10800000">
              <a:off x="4299030" y="1613293"/>
              <a:ext cx="490500" cy="394500"/>
            </a:xfrm>
            <a:prstGeom prst="curvedConnector2">
              <a:avLst/>
            </a:prstGeom>
            <a:noFill/>
            <a:ln cap="flat" cmpd="sng" w="17250">
              <a:solidFill>
                <a:schemeClr val="accent5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3" name="Google Shape;173;p20"/>
            <p:cNvCxnSpPr>
              <a:stCxn id="169" idx="1"/>
              <a:endCxn id="166" idx="0"/>
            </p:cNvCxnSpPr>
            <p:nvPr/>
          </p:nvCxnSpPr>
          <p:spPr>
            <a:xfrm flipH="1">
              <a:off x="3137644" y="1027361"/>
              <a:ext cx="322500" cy="394200"/>
            </a:xfrm>
            <a:prstGeom prst="curvedConnector2">
              <a:avLst/>
            </a:prstGeom>
            <a:noFill/>
            <a:ln cap="flat" cmpd="sng" w="17250">
              <a:solidFill>
                <a:srgbClr val="DD7E6B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4" name="Google Shape;174;p20"/>
            <p:cNvCxnSpPr>
              <a:stCxn id="169" idx="3"/>
              <a:endCxn id="165" idx="0"/>
            </p:cNvCxnSpPr>
            <p:nvPr/>
          </p:nvCxnSpPr>
          <p:spPr>
            <a:xfrm>
              <a:off x="4243444" y="1027361"/>
              <a:ext cx="391800" cy="394200"/>
            </a:xfrm>
            <a:prstGeom prst="curvedConnector2">
              <a:avLst/>
            </a:prstGeom>
            <a:noFill/>
            <a:ln cap="flat" cmpd="sng" w="17250">
              <a:solidFill>
                <a:srgbClr val="DD7E6B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75" name="Google Shape;175;p20"/>
          <p:cNvGrpSpPr/>
          <p:nvPr/>
        </p:nvGrpSpPr>
        <p:grpSpPr>
          <a:xfrm>
            <a:off x="5684192" y="817293"/>
            <a:ext cx="872551" cy="1440300"/>
            <a:chOff x="5684192" y="817293"/>
            <a:chExt cx="872551" cy="1440300"/>
          </a:xfrm>
        </p:grpSpPr>
        <p:sp>
          <p:nvSpPr>
            <p:cNvPr id="176" name="Google Shape;176;p20"/>
            <p:cNvSpPr/>
            <p:nvPr/>
          </p:nvSpPr>
          <p:spPr>
            <a:xfrm>
              <a:off x="5684192" y="817293"/>
              <a:ext cx="154500" cy="1440300"/>
            </a:xfrm>
            <a:prstGeom prst="rightBrace">
              <a:avLst>
                <a:gd fmla="val 95784" name="adj1"/>
                <a:gd fmla="val 50000" name="adj2"/>
              </a:avLst>
            </a:prstGeom>
            <a:noFill/>
            <a:ln cap="flat" cmpd="sng" w="172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1400" lIns="82850" spcFirstLastPara="1" rIns="82850" wrap="square" tIns="4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7" name="Google Shape;17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39953" y="1030620"/>
              <a:ext cx="416790" cy="9738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20"/>
          <p:cNvSpPr/>
          <p:nvPr/>
        </p:nvSpPr>
        <p:spPr>
          <a:xfrm rot="-5400000">
            <a:off x="-587825" y="3555299"/>
            <a:ext cx="1839000" cy="3114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850" lIns="82850" spcFirstLastPara="1" rIns="82850" wrap="square" tIns="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/>
              <a:t>Data analysis</a:t>
            </a:r>
            <a:endParaRPr sz="1268"/>
          </a:p>
        </p:txBody>
      </p:sp>
      <p:sp>
        <p:nvSpPr>
          <p:cNvPr id="179" name="Google Shape;179;p20"/>
          <p:cNvSpPr/>
          <p:nvPr/>
        </p:nvSpPr>
        <p:spPr>
          <a:xfrm>
            <a:off x="810660" y="3092215"/>
            <a:ext cx="1229400" cy="1237800"/>
          </a:xfrm>
          <a:prstGeom prst="rect">
            <a:avLst/>
          </a:prstGeom>
          <a:solidFill>
            <a:srgbClr val="99DBF8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850" lIns="82850" spcFirstLastPara="1" rIns="82850" wrap="square" tIns="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0">
                <a:solidFill>
                  <a:schemeClr val="dk2"/>
                </a:solidFill>
              </a:rPr>
              <a:t>fastq file with 100k-500k sequences</a:t>
            </a:r>
            <a:endParaRPr sz="1268"/>
          </a:p>
        </p:txBody>
      </p:sp>
      <p:grpSp>
        <p:nvGrpSpPr>
          <p:cNvPr id="180" name="Google Shape;180;p20"/>
          <p:cNvGrpSpPr/>
          <p:nvPr/>
        </p:nvGrpSpPr>
        <p:grpSpPr>
          <a:xfrm>
            <a:off x="2346440" y="2831650"/>
            <a:ext cx="1314240" cy="1667400"/>
            <a:chOff x="2346440" y="2831650"/>
            <a:chExt cx="1314240" cy="1667400"/>
          </a:xfrm>
        </p:grpSpPr>
        <p:sp>
          <p:nvSpPr>
            <p:cNvPr id="181" name="Google Shape;181;p20"/>
            <p:cNvSpPr/>
            <p:nvPr/>
          </p:nvSpPr>
          <p:spPr>
            <a:xfrm>
              <a:off x="2830580" y="2831658"/>
              <a:ext cx="830100" cy="219000"/>
            </a:xfrm>
            <a:prstGeom prst="rect">
              <a:avLst/>
            </a:prstGeom>
            <a:solidFill>
              <a:schemeClr val="accent5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Index 1</a:t>
              </a:r>
              <a:endParaRPr sz="1268">
                <a:solidFill>
                  <a:schemeClr val="lt1"/>
                </a:solidFill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2830580" y="3135663"/>
              <a:ext cx="830100" cy="219000"/>
            </a:xfrm>
            <a:prstGeom prst="rect">
              <a:avLst/>
            </a:prstGeom>
            <a:solidFill>
              <a:schemeClr val="accent5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Index 2</a:t>
              </a:r>
              <a:endParaRPr sz="1268">
                <a:solidFill>
                  <a:schemeClr val="lt1"/>
                </a:solidFill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2830580" y="4272321"/>
              <a:ext cx="830100" cy="219000"/>
            </a:xfrm>
            <a:prstGeom prst="rect">
              <a:avLst/>
            </a:prstGeom>
            <a:solidFill>
              <a:schemeClr val="accent5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Index 50</a:t>
              </a:r>
              <a:endParaRPr sz="1268">
                <a:solidFill>
                  <a:schemeClr val="lt1"/>
                </a:solidFill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 rot="10800000">
              <a:off x="2346440" y="2831650"/>
              <a:ext cx="354300" cy="1667400"/>
            </a:xfrm>
            <a:prstGeom prst="rightBrace">
              <a:avLst>
                <a:gd fmla="val 95784" name="adj1"/>
                <a:gd fmla="val 51427" name="adj2"/>
              </a:avLst>
            </a:prstGeom>
            <a:noFill/>
            <a:ln cap="flat" cmpd="sng" w="172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1400" lIns="82850" spcFirstLastPara="1" rIns="82850" wrap="square" tIns="4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5" name="Google Shape;185;p20"/>
            <p:cNvCxnSpPr/>
            <p:nvPr/>
          </p:nvCxnSpPr>
          <p:spPr>
            <a:xfrm>
              <a:off x="3215572" y="3476855"/>
              <a:ext cx="0" cy="690300"/>
            </a:xfrm>
            <a:prstGeom prst="straightConnector1">
              <a:avLst/>
            </a:prstGeom>
            <a:noFill/>
            <a:ln cap="flat" cmpd="sng" w="2587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186" name="Google Shape;186;p20"/>
          <p:cNvSpPr txBox="1"/>
          <p:nvPr/>
        </p:nvSpPr>
        <p:spPr>
          <a:xfrm>
            <a:off x="2604917" y="4478850"/>
            <a:ext cx="23628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0">
                <a:solidFill>
                  <a:schemeClr val="dk2"/>
                </a:solidFill>
              </a:rPr>
              <a:t>Split by index, then UMI</a:t>
            </a:r>
            <a:endParaRPr sz="1630">
              <a:solidFill>
                <a:schemeClr val="dk2"/>
              </a:solidFill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3925428" y="2831650"/>
            <a:ext cx="1580228" cy="1667400"/>
            <a:chOff x="3925428" y="2831650"/>
            <a:chExt cx="1580228" cy="1667400"/>
          </a:xfrm>
        </p:grpSpPr>
        <p:sp>
          <p:nvSpPr>
            <p:cNvPr id="188" name="Google Shape;188;p20"/>
            <p:cNvSpPr/>
            <p:nvPr/>
          </p:nvSpPr>
          <p:spPr>
            <a:xfrm rot="10800000">
              <a:off x="3925428" y="2831650"/>
              <a:ext cx="354300" cy="1667400"/>
            </a:xfrm>
            <a:prstGeom prst="rightBrace">
              <a:avLst>
                <a:gd fmla="val 95784" name="adj1"/>
                <a:gd fmla="val 92358" name="adj2"/>
              </a:avLst>
            </a:prstGeom>
            <a:noFill/>
            <a:ln cap="flat" cmpd="sng" w="172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1400" lIns="82850" spcFirstLastPara="1" rIns="82850" wrap="square" tIns="4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4352155" y="2831658"/>
              <a:ext cx="1153500" cy="219000"/>
            </a:xfrm>
            <a:prstGeom prst="rect">
              <a:avLst/>
            </a:prstGeom>
            <a:solidFill>
              <a:srgbClr val="DD7E6B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UMI 1.1</a:t>
              </a:r>
              <a:endParaRPr sz="1268">
                <a:solidFill>
                  <a:schemeClr val="lt1"/>
                </a:solidFill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4352155" y="3108485"/>
              <a:ext cx="1153500" cy="219000"/>
            </a:xfrm>
            <a:prstGeom prst="rect">
              <a:avLst/>
            </a:prstGeom>
            <a:solidFill>
              <a:srgbClr val="DD7E6B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UMI 1.2</a:t>
              </a:r>
              <a:endParaRPr sz="1268">
                <a:solidFill>
                  <a:schemeClr val="lt1"/>
                </a:solidFill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4352155" y="4272321"/>
              <a:ext cx="1153500" cy="219000"/>
            </a:xfrm>
            <a:prstGeom prst="rect">
              <a:avLst/>
            </a:prstGeom>
            <a:solidFill>
              <a:srgbClr val="DD7E6B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8">
                  <a:solidFill>
                    <a:schemeClr val="lt1"/>
                  </a:solidFill>
                </a:rPr>
                <a:t>UMI 1.1000?</a:t>
              </a:r>
              <a:endParaRPr sz="1268">
                <a:solidFill>
                  <a:schemeClr val="lt1"/>
                </a:solidFill>
              </a:endParaRPr>
            </a:p>
          </p:txBody>
        </p:sp>
        <p:cxnSp>
          <p:nvCxnSpPr>
            <p:cNvPr id="192" name="Google Shape;192;p20"/>
            <p:cNvCxnSpPr/>
            <p:nvPr/>
          </p:nvCxnSpPr>
          <p:spPr>
            <a:xfrm>
              <a:off x="4896894" y="3454748"/>
              <a:ext cx="0" cy="690300"/>
            </a:xfrm>
            <a:prstGeom prst="straightConnector1">
              <a:avLst/>
            </a:prstGeom>
            <a:noFill/>
            <a:ln cap="flat" cmpd="sng" w="2587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3" name="Google Shape;193;p20"/>
          <p:cNvGrpSpPr/>
          <p:nvPr/>
        </p:nvGrpSpPr>
        <p:grpSpPr>
          <a:xfrm>
            <a:off x="5755149" y="2831513"/>
            <a:ext cx="1932973" cy="2041537"/>
            <a:chOff x="5755149" y="2831513"/>
            <a:chExt cx="1932973" cy="2041537"/>
          </a:xfrm>
        </p:grpSpPr>
        <p:sp>
          <p:nvSpPr>
            <p:cNvPr id="194" name="Google Shape;194;p20"/>
            <p:cNvSpPr txBox="1"/>
            <p:nvPr/>
          </p:nvSpPr>
          <p:spPr>
            <a:xfrm>
              <a:off x="5987423" y="4478850"/>
              <a:ext cx="17007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30">
                  <a:solidFill>
                    <a:schemeClr val="dk2"/>
                  </a:solidFill>
                </a:rPr>
                <a:t>Align to wt gene</a:t>
              </a:r>
              <a:endParaRPr sz="1630">
                <a:solidFill>
                  <a:schemeClr val="dk2"/>
                </a:solidFill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6226845" y="2863456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6226845" y="3147947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6226845" y="3432438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6226845" y="4001419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6226845" y="3716928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6226845" y="4285910"/>
              <a:ext cx="1343100" cy="191700"/>
            </a:xfrm>
            <a:prstGeom prst="rect">
              <a:avLst/>
            </a:prstGeom>
            <a:solidFill>
              <a:schemeClr val="lt2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7"/>
            </a:p>
          </p:txBody>
        </p:sp>
        <p:sp>
          <p:nvSpPr>
            <p:cNvPr id="201" name="Google Shape;201;p20"/>
            <p:cNvSpPr/>
            <p:nvPr/>
          </p:nvSpPr>
          <p:spPr>
            <a:xfrm rot="10800000">
              <a:off x="5755149" y="2831513"/>
              <a:ext cx="354300" cy="1387200"/>
            </a:xfrm>
            <a:prstGeom prst="rightBrace">
              <a:avLst>
                <a:gd fmla="val 95784" name="adj1"/>
                <a:gd fmla="val 92058" name="adj2"/>
              </a:avLst>
            </a:prstGeom>
            <a:noFill/>
            <a:ln cap="flat" cmpd="sng" w="172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1400" lIns="82850" spcFirstLastPara="1" rIns="82850" wrap="square" tIns="4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6663009" y="2864000"/>
              <a:ext cx="23400" cy="191700"/>
            </a:xfrm>
            <a:prstGeom prst="rect">
              <a:avLst/>
            </a:prstGeom>
            <a:solidFill>
              <a:srgbClr val="FF00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6663009" y="3148221"/>
              <a:ext cx="23400" cy="191700"/>
            </a:xfrm>
            <a:prstGeom prst="rect">
              <a:avLst/>
            </a:prstGeom>
            <a:solidFill>
              <a:srgbClr val="FF00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6663009" y="3432567"/>
              <a:ext cx="23400" cy="191700"/>
            </a:xfrm>
            <a:prstGeom prst="rect">
              <a:avLst/>
            </a:prstGeom>
            <a:solidFill>
              <a:srgbClr val="FF00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6663009" y="3716992"/>
              <a:ext cx="23400" cy="191700"/>
            </a:xfrm>
            <a:prstGeom prst="rect">
              <a:avLst/>
            </a:prstGeom>
            <a:solidFill>
              <a:srgbClr val="FF00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6663009" y="4001451"/>
              <a:ext cx="23400" cy="191700"/>
            </a:xfrm>
            <a:prstGeom prst="rect">
              <a:avLst/>
            </a:prstGeom>
            <a:solidFill>
              <a:srgbClr val="FF00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7016044" y="3432419"/>
              <a:ext cx="23400" cy="191700"/>
            </a:xfrm>
            <a:prstGeom prst="rect">
              <a:avLst/>
            </a:prstGeom>
            <a:solidFill>
              <a:srgbClr val="00FFFF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</p:grpSp>
      <p:sp>
        <p:nvSpPr>
          <p:cNvPr id="208" name="Google Shape;208;p20"/>
          <p:cNvSpPr/>
          <p:nvPr/>
        </p:nvSpPr>
        <p:spPr>
          <a:xfrm>
            <a:off x="6532014" y="2704467"/>
            <a:ext cx="291300" cy="1667400"/>
          </a:xfrm>
          <a:prstGeom prst="rect">
            <a:avLst/>
          </a:prstGeom>
          <a:noFill/>
          <a:ln cap="flat" cmpd="sng" w="25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850" lIns="82850" spcFirstLastPara="1" rIns="82850" wrap="square" tIns="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/>
          </a:p>
        </p:txBody>
      </p:sp>
      <p:grpSp>
        <p:nvGrpSpPr>
          <p:cNvPr id="209" name="Google Shape;209;p20"/>
          <p:cNvGrpSpPr/>
          <p:nvPr/>
        </p:nvGrpSpPr>
        <p:grpSpPr>
          <a:xfrm>
            <a:off x="564339" y="2625421"/>
            <a:ext cx="3894248" cy="536776"/>
            <a:chOff x="564339" y="2625421"/>
            <a:chExt cx="3894248" cy="536776"/>
          </a:xfrm>
        </p:grpSpPr>
        <p:sp>
          <p:nvSpPr>
            <p:cNvPr id="210" name="Google Shape;210;p20"/>
            <p:cNvSpPr/>
            <p:nvPr/>
          </p:nvSpPr>
          <p:spPr>
            <a:xfrm>
              <a:off x="564339" y="2863997"/>
              <a:ext cx="298200" cy="298200"/>
            </a:xfrm>
            <a:prstGeom prst="star4">
              <a:avLst>
                <a:gd fmla="val 12500" name="adj"/>
              </a:avLst>
            </a:prstGeom>
            <a:solidFill>
              <a:schemeClr val="accent6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2634404" y="2625428"/>
              <a:ext cx="298200" cy="298200"/>
            </a:xfrm>
            <a:prstGeom prst="star4">
              <a:avLst>
                <a:gd fmla="val 12500" name="adj"/>
              </a:avLst>
            </a:prstGeom>
            <a:solidFill>
              <a:schemeClr val="accent6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4160388" y="2625421"/>
              <a:ext cx="298200" cy="298200"/>
            </a:xfrm>
            <a:prstGeom prst="star4">
              <a:avLst>
                <a:gd fmla="val 12500" name="adj"/>
              </a:avLst>
            </a:prstGeom>
            <a:solidFill>
              <a:schemeClr val="accent6"/>
            </a:solidFill>
            <a:ln cap="flat" cmpd="sng" w="8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50" lIns="82850" spcFirstLastPara="1" rIns="82850" wrap="square" tIns="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/>
            </a:p>
          </p:txBody>
        </p:sp>
      </p:grpSp>
      <p:sp>
        <p:nvSpPr>
          <p:cNvPr id="213" name="Google Shape;213;p20"/>
          <p:cNvSpPr txBox="1"/>
          <p:nvPr/>
        </p:nvSpPr>
        <p:spPr>
          <a:xfrm>
            <a:off x="7687524" y="2944925"/>
            <a:ext cx="1274700" cy="1440900"/>
          </a:xfrm>
          <a:prstGeom prst="rect">
            <a:avLst/>
          </a:prstGeom>
          <a:noFill/>
          <a:ln cap="flat" cmpd="sng" w="299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5600" lIns="95600" spcFirstLastPara="1" rIns="95600" wrap="square" tIns="95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1">
                <a:solidFill>
                  <a:schemeClr val="dk2"/>
                </a:solidFill>
              </a:rPr>
              <a:t>Calculate mutation rates using info from all samples</a:t>
            </a:r>
            <a:endParaRPr sz="1621">
              <a:solidFill>
                <a:schemeClr val="dk2"/>
              </a:solidFill>
            </a:endParaRPr>
          </a:p>
        </p:txBody>
      </p:sp>
      <p:grpSp>
        <p:nvGrpSpPr>
          <p:cNvPr id="214" name="Google Shape;214;p20"/>
          <p:cNvGrpSpPr/>
          <p:nvPr/>
        </p:nvGrpSpPr>
        <p:grpSpPr>
          <a:xfrm>
            <a:off x="6708075" y="839663"/>
            <a:ext cx="1905000" cy="1261788"/>
            <a:chOff x="6708075" y="839663"/>
            <a:chExt cx="1905000" cy="1261788"/>
          </a:xfrm>
        </p:grpSpPr>
        <p:sp>
          <p:nvSpPr>
            <p:cNvPr id="215" name="Google Shape;215;p20"/>
            <p:cNvSpPr txBox="1"/>
            <p:nvPr/>
          </p:nvSpPr>
          <p:spPr>
            <a:xfrm>
              <a:off x="7083825" y="1432150"/>
              <a:ext cx="1153500" cy="6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850" lIns="82850" spcFirstLastPara="1" rIns="82850" wrap="square" tIns="828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30">
                  <a:solidFill>
                    <a:schemeClr val="dk2"/>
                  </a:solidFill>
                </a:rPr>
                <a:t>Submit for NGS</a:t>
              </a:r>
              <a:endParaRPr sz="1630">
                <a:solidFill>
                  <a:schemeClr val="dk2"/>
                </a:solidFill>
              </a:endParaRPr>
            </a:p>
          </p:txBody>
        </p:sp>
        <p:pic>
          <p:nvPicPr>
            <p:cNvPr id="216" name="Google Shape;216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08075" y="839663"/>
              <a:ext cx="1905000" cy="600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